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89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526679"/>
            <a:ext cx="609600" cy="3810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818680"/>
            <a:ext cx="8595360" cy="53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10"/>
              </a:lnSpc>
              <a:spcAft>
                <a:spcPts val="10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Machine Failure Prediction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74320" y="2442121"/>
            <a:ext cx="8595211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20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Comparison Report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7950" y="2915096"/>
            <a:ext cx="507950" cy="25301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382537" y="3168997"/>
            <a:ext cx="437877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 vs SVM vs Neural Network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033593" y="3464272"/>
            <a:ext cx="30768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AI4I 2020 Predictive Maintenance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60375"/>
            <a:ext cx="1777901" cy="382592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7301" y="1088975"/>
            <a:ext cx="1963049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28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7301" y="1546027"/>
            <a:ext cx="167854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3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7301" y="1811238"/>
            <a:ext cx="149362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Objective, dataset, and preprocessing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5202" y="860375"/>
            <a:ext cx="1777901" cy="382592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42902" y="1088975"/>
            <a:ext cx="1963049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28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2902" y="1546027"/>
            <a:ext cx="176389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3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2902" y="1811238"/>
            <a:ext cx="149362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Training pipeline and evaluation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0803" y="860375"/>
            <a:ext cx="1777901" cy="382592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8504" y="1088975"/>
            <a:ext cx="1963049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28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98504" y="1546027"/>
            <a:ext cx="176389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3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8504" y="1811238"/>
            <a:ext cx="149362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Confusion matrices and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6405" y="860375"/>
            <a:ext cx="1777901" cy="3825925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54105" y="1088975"/>
            <a:ext cx="1963049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28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54105" y="1546027"/>
            <a:ext cx="1763899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3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4105" y="1811238"/>
            <a:ext cx="149362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ROC curves and final verdict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83387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69988"/>
            <a:ext cx="38100" cy="457200"/>
          </a:xfrm>
          <a:prstGeom prst="roundRect">
            <a:avLst>
              <a:gd name="adj" fmla="val 66667"/>
            </a:avLst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544687"/>
            <a:ext cx="836935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4650" y="1814513"/>
            <a:ext cx="81477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4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Train and compare three binary classification models for predicting machine failure using the AI4I 2020 dataset, identifying the best algorithm for fault detection.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2550914"/>
            <a:ext cx="38100" cy="457200"/>
          </a:xfrm>
          <a:prstGeom prst="roundRect">
            <a:avLst>
              <a:gd name="adj" fmla="val 66667"/>
            </a:avLst>
          </a:prstGeom>
          <a:solidFill>
            <a:srgbClr val="6BCB77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2525613"/>
            <a:ext cx="836935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4650" y="2795439"/>
            <a:ext cx="81477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4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 achieved the strongest overall discrimination with the highest AUC (0.877) and F1-score (0.302), making it the best model for this imbalanced task.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531840"/>
            <a:ext cx="38100" cy="457200"/>
          </a:xfrm>
          <a:prstGeom prst="roundRect">
            <a:avLst>
              <a:gd name="adj" fmla="val 66667"/>
            </a:avLst>
          </a:prstGeom>
          <a:solidFill>
            <a:srgbClr val="9B8EC4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506539"/>
            <a:ext cx="836935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Models Compared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4650" y="3776365"/>
            <a:ext cx="814773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4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Regression, SVM (RBF Kernel), and Neural Network (MLPClassifier) evaluated via Confusion Matrix, Accuracy, Precision, Recall, Specificity, F1-Score, and ROC.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450242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Dataset and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27163"/>
            <a:ext cx="516884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AI4I 2020 Predictive Maintenance Dataset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2173188"/>
            <a:ext cx="4698950" cy="141351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1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10,000 records with 4 columns</a:t>
            </a:r>
            <a:endParaRPr lang="en-US" sz="13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Target: Machine failure (0=Normal, 1=Failure)</a:t>
            </a:r>
            <a:endParaRPr lang="en-US" sz="13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Features: Rotational speed [rpm], Torque [Nm]</a:t>
            </a:r>
            <a:endParaRPr lang="en-US" sz="13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UDI identifier removed (non-predictive)</a:t>
            </a:r>
            <a:endParaRPr lang="en-US" sz="1300" dirty="0"/>
          </a:p>
          <a:p>
            <a:pPr marL="114300" indent="-114300" algn="l">
              <a:lnSpc>
                <a:spcPts val="21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9,661 normal vs 339 failure cases (imbalanced)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3684389"/>
            <a:ext cx="493389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 imbalance makes recall and F1 more meaningful than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62451" y="1784300"/>
            <a:ext cx="2920901" cy="2286000"/>
          </a:xfrm>
          <a:prstGeom prst="roundRect">
            <a:avLst>
              <a:gd name="adj" fmla="val 5556"/>
            </a:avLst>
          </a:prstGeom>
          <a:solidFill>
            <a:srgbClr val="F3F4F5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pic>
        <p:nvPicPr>
          <p:cNvPr id="8" name="Image 0" descr="/tmp/machine_fail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451" y="1847850"/>
            <a:ext cx="2920901" cy="21589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30101"/>
            <a:ext cx="235131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758726"/>
            <a:ext cx="507950" cy="3810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74527"/>
            <a:ext cx="7924800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1364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2259" y="1203127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4026" y="1136452"/>
            <a:ext cx="10163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Split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54026" y="1365052"/>
            <a:ext cx="3468615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70% training / 30% testing with stratification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848148"/>
            <a:ext cx="7924800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01007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6BCB77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2259" y="2076748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4026" y="2010073"/>
            <a:ext cx="153100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4026" y="2238673"/>
            <a:ext cx="4118803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StandardScaler in pipeline for consistent transformation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2721769"/>
            <a:ext cx="7924800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288369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9B8EC4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259" y="2950369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54026" y="2883694"/>
            <a:ext cx="160408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Models Trained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54026" y="3112294"/>
            <a:ext cx="416415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Regression, SVM (RBF), Neural Network (MLP)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595390"/>
            <a:ext cx="7924800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375731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8D9496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2259" y="3823990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4026" y="3757315"/>
            <a:ext cx="185293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54026" y="3985915"/>
            <a:ext cx="538789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Confusion Matrix, Accuracy, Precision, Recall, Specificity, F1, ROC, AUC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485068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1: Logistic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12838"/>
            <a:ext cx="530352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833414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 models the probability of a binary outcome using the sigmoid function. It estimates the log-odds of the positive class as a linear combination of features, then maps to a probability between 0 and 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900214"/>
            <a:ext cx="4572000" cy="1441400"/>
          </a:xfrm>
          <a:prstGeom prst="roundRect">
            <a:avLst>
              <a:gd name="adj" fmla="val 7049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900214"/>
            <a:ext cx="0" cy="1441400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8" name="Text 6"/>
          <p:cNvSpPr/>
          <p:nvPr/>
        </p:nvSpPr>
        <p:spPr>
          <a:xfrm>
            <a:off x="825401" y="3052614"/>
            <a:ext cx="45963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Characteristics: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5401" y="3274814"/>
            <a:ext cx="4178498" cy="96926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Linear decision boundary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Fast training and inference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Highly interpretable model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precision (0.917) among all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35501" y="1847850"/>
            <a:ext cx="3048000" cy="2158901"/>
          </a:xfrm>
          <a:prstGeom prst="roundRect">
            <a:avLst>
              <a:gd name="adj" fmla="val 5883"/>
            </a:avLst>
          </a:prstGeom>
          <a:solidFill>
            <a:srgbClr val="F3F4F5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pic>
        <p:nvPicPr>
          <p:cNvPr id="11" name="Image 0" descr="/tmp/logistic_regres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501" y="1911251"/>
            <a:ext cx="3048000" cy="203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6402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Regression: Confusion Matrix</a:t>
            </a:r>
            <a:endParaRPr lang="en-US" sz="2200" dirty="0"/>
          </a:p>
        </p:txBody>
      </p:sp>
      <p:pic>
        <p:nvPicPr>
          <p:cNvPr id="4" name="Image 0" descr="/home/z/my-project/upload/extracted_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3300"/>
            <a:ext cx="36829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46402" y="1510605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65452" y="1510605"/>
            <a:ext cx="0" cy="632222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7" name="Text 4"/>
          <p:cNvSpPr/>
          <p:nvPr/>
        </p:nvSpPr>
        <p:spPr>
          <a:xfrm>
            <a:off x="4762202" y="1637556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Positives (TP) = 11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62202" y="1834307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Correctly identified 11 out of 102 failure cases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46402" y="2244328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65452" y="2244328"/>
            <a:ext cx="0" cy="632222"/>
          </a:xfrm>
          <a:prstGeom prst="line">
            <a:avLst/>
          </a:prstGeom>
          <a:noFill/>
          <a:ln w="38100">
            <a:solidFill>
              <a:srgbClr val="6BCB77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1" name="Text 8"/>
          <p:cNvSpPr/>
          <p:nvPr/>
        </p:nvSpPr>
        <p:spPr>
          <a:xfrm>
            <a:off x="4762202" y="2371279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Negatives (TN) = 2,897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62202" y="2568029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Correctly identified almost all normal cases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46402" y="2978051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65452" y="2978051"/>
            <a:ext cx="0" cy="632222"/>
          </a:xfrm>
          <a:prstGeom prst="line">
            <a:avLst/>
          </a:prstGeom>
          <a:noFill/>
          <a:ln w="38100">
            <a:solidFill>
              <a:srgbClr val="9B8EC4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5" name="Text 12"/>
          <p:cNvSpPr/>
          <p:nvPr/>
        </p:nvSpPr>
        <p:spPr>
          <a:xfrm>
            <a:off x="4762202" y="3105001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Negatives (FN) = 91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62202" y="3301752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Missed 91 failures - lowest recall among models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46402" y="3711773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24102" y="3838724"/>
            <a:ext cx="39397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Positives (FP) = 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24102" y="4035475"/>
            <a:ext cx="393970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Nearly zero false alarms - highest precision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510175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2: Support Vector Machine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47850"/>
            <a:ext cx="2920901" cy="2158901"/>
          </a:xfrm>
          <a:prstGeom prst="roundRect">
            <a:avLst>
              <a:gd name="adj" fmla="val 5883"/>
            </a:avLst>
          </a:prstGeom>
          <a:solidFill>
            <a:srgbClr val="F3F4F5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84402" y="1512838"/>
            <a:ext cx="5359598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84402" y="1833414"/>
            <a:ext cx="493389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SVM with RBF kernel finds the optimal hyperplane that maximizes the margin between classes in a transformed feature space. The RBF kernel maps data into higher dimensions where non-linear boundaries become separable, capturing complex patterns.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84402" y="2900214"/>
            <a:ext cx="4698950" cy="1441400"/>
          </a:xfrm>
          <a:prstGeom prst="roundRect">
            <a:avLst>
              <a:gd name="adj" fmla="val 7049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803452" y="2900214"/>
            <a:ext cx="0" cy="1441400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0" name="Text 7"/>
          <p:cNvSpPr/>
          <p:nvPr/>
        </p:nvSpPr>
        <p:spPr>
          <a:xfrm>
            <a:off x="4000202" y="3052614"/>
            <a:ext cx="47359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Characteristics: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00202" y="3274814"/>
            <a:ext cx="4305449" cy="96926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Non-linear decision boundary via RBF kernel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Maximum margin classification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Effective in high-dimensional spaces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Balanced precision (0.800) and recall (0.157)</a:t>
            </a:r>
            <a:endParaRPr lang="en-US" sz="1100" dirty="0"/>
          </a:p>
        </p:txBody>
      </p:sp>
      <p:pic>
        <p:nvPicPr>
          <p:cNvPr id="12" name="Picture 11" descr="The Gaussian RBF Kernel in Non Linear SVM | by Suvigya Saxena | Medium">
            <a:extLst>
              <a:ext uri="{FF2B5EF4-FFF2-40B4-BE49-F238E27FC236}">
                <a16:creationId xmlns:a16="http://schemas.microsoft.com/office/drawing/2014/main" id="{96CEBA9B-3166-3A3C-20BC-36F046ED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4" y="1864187"/>
            <a:ext cx="3571733" cy="2197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8217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SVM: Confusion Matrix</a:t>
            </a:r>
            <a:endParaRPr lang="en-US" sz="2200" dirty="0"/>
          </a:p>
        </p:txBody>
      </p:sp>
      <p:pic>
        <p:nvPicPr>
          <p:cNvPr id="4" name="Image 0" descr="/home/z/my-project/upload/extracted_images/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3300"/>
            <a:ext cx="36829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46402" y="1510605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65452" y="1510605"/>
            <a:ext cx="0" cy="632222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7" name="Text 4"/>
          <p:cNvSpPr/>
          <p:nvPr/>
        </p:nvSpPr>
        <p:spPr>
          <a:xfrm>
            <a:off x="4762202" y="1637556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Positives (TP) = 16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62202" y="1834307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Detected 16 failures, improving over LR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46402" y="2244328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65452" y="2244328"/>
            <a:ext cx="0" cy="632222"/>
          </a:xfrm>
          <a:prstGeom prst="line">
            <a:avLst/>
          </a:prstGeom>
          <a:noFill/>
          <a:ln w="38100">
            <a:solidFill>
              <a:srgbClr val="6BCB77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1" name="Text 8"/>
          <p:cNvSpPr/>
          <p:nvPr/>
        </p:nvSpPr>
        <p:spPr>
          <a:xfrm>
            <a:off x="4762202" y="2371279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Negatives (TN) = 2,894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62202" y="2568029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Very high normal case accuracy maintained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46402" y="2978051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65452" y="2978051"/>
            <a:ext cx="0" cy="632222"/>
          </a:xfrm>
          <a:prstGeom prst="line">
            <a:avLst/>
          </a:prstGeom>
          <a:noFill/>
          <a:ln w="38100">
            <a:solidFill>
              <a:srgbClr val="9B8EC4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5" name="Text 12"/>
          <p:cNvSpPr/>
          <p:nvPr/>
        </p:nvSpPr>
        <p:spPr>
          <a:xfrm>
            <a:off x="4762202" y="3105001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Negatives (FN) = 86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62202" y="3301752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Still missing majority of failure cases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46402" y="3711773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24102" y="3838724"/>
            <a:ext cx="39397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Positives (FP) = 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24102" y="4035475"/>
            <a:ext cx="393970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Very few false alarms - good specificity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14145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3: Neural Network (MLP)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12838"/>
            <a:ext cx="530352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5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833414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Multi-Layer Perceptron learns non-linear transformations through weighted connections and activation functions across hidden layers, enabling it to capture complex decision boundaries that linear models cannot represent.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900214"/>
            <a:ext cx="4572000" cy="1441400"/>
          </a:xfrm>
          <a:prstGeom prst="roundRect">
            <a:avLst>
              <a:gd name="adj" fmla="val 7049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900214"/>
            <a:ext cx="0" cy="1441400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8" name="Text 6"/>
          <p:cNvSpPr/>
          <p:nvPr/>
        </p:nvSpPr>
        <p:spPr>
          <a:xfrm>
            <a:off x="825401" y="3052614"/>
            <a:ext cx="45963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Characteristics: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5401" y="3274814"/>
            <a:ext cx="4178498" cy="96926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Non-linear hierarchical feature learning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Multiple hidden layers for complex patterns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recall (0.186) and F1-score (0.302)</a:t>
            </a:r>
            <a:endParaRPr lang="en-US" sz="1100" dirty="0"/>
          </a:p>
          <a:p>
            <a:pPr marL="88900" indent="-88900" algn="l">
              <a:lnSpc>
                <a:spcPts val="1800"/>
              </a:lnSpc>
              <a:buSzPct val="100000"/>
              <a:buChar char="•"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Highest AUC (0.877) - best discrimination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35501" y="1847850"/>
            <a:ext cx="3048000" cy="2158901"/>
          </a:xfrm>
          <a:prstGeom prst="roundRect">
            <a:avLst>
              <a:gd name="adj" fmla="val 5883"/>
            </a:avLst>
          </a:prstGeom>
          <a:solidFill>
            <a:srgbClr val="F3F4F5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3BFCCDD-BBD6-1A06-DA0A-E834D602B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49" y="1696193"/>
            <a:ext cx="3863780" cy="24622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62644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Network: Confusion Matrix</a:t>
            </a:r>
            <a:endParaRPr lang="en-US" sz="2200" dirty="0"/>
          </a:p>
        </p:txBody>
      </p:sp>
      <p:pic>
        <p:nvPicPr>
          <p:cNvPr id="4" name="Image 0" descr="/home/z/my-project/upload/extracted_images/im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03300"/>
            <a:ext cx="36829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46402" y="1510605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565452" y="1510605"/>
            <a:ext cx="0" cy="632222"/>
          </a:xfrm>
          <a:prstGeom prst="line">
            <a:avLst/>
          </a:prstGeom>
          <a:noFill/>
          <a:ln w="38100">
            <a:solidFill>
              <a:srgbClr val="D77860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7" name="Text 4"/>
          <p:cNvSpPr/>
          <p:nvPr/>
        </p:nvSpPr>
        <p:spPr>
          <a:xfrm>
            <a:off x="4762202" y="1637556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Positives (TP) = 19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62202" y="1834307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Most failure detections among all three models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46402" y="2244328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65452" y="2244328"/>
            <a:ext cx="0" cy="632222"/>
          </a:xfrm>
          <a:prstGeom prst="line">
            <a:avLst/>
          </a:prstGeom>
          <a:noFill/>
          <a:ln w="38100">
            <a:solidFill>
              <a:srgbClr val="6BCB77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1" name="Text 8"/>
          <p:cNvSpPr/>
          <p:nvPr/>
        </p:nvSpPr>
        <p:spPr>
          <a:xfrm>
            <a:off x="4762202" y="2371279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True Negatives (TN) = 2,893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62202" y="2568029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Maintains high normal case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46402" y="2978051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65452" y="2978051"/>
            <a:ext cx="0" cy="632222"/>
          </a:xfrm>
          <a:prstGeom prst="line">
            <a:avLst/>
          </a:prstGeom>
          <a:noFill/>
          <a:ln w="38100">
            <a:solidFill>
              <a:srgbClr val="9B8EC4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5" name="Text 12"/>
          <p:cNvSpPr/>
          <p:nvPr/>
        </p:nvSpPr>
        <p:spPr>
          <a:xfrm>
            <a:off x="4762202" y="3105001"/>
            <a:ext cx="389779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Negatives (FN) = 83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62202" y="3301752"/>
            <a:ext cx="389779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Fewest missed failures - best recall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46402" y="3711773"/>
            <a:ext cx="3936950" cy="632222"/>
          </a:xfrm>
          <a:prstGeom prst="roundRect">
            <a:avLst>
              <a:gd name="adj" fmla="val 160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24102" y="3838724"/>
            <a:ext cx="39397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False Positives (FP) = 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24102" y="4035475"/>
            <a:ext cx="393970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Slightly more false alarms but still very low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3901"/>
            <a:ext cx="3517329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ROC Curve Comparison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600" y="653951"/>
            <a:ext cx="507950" cy="3810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pic>
        <p:nvPicPr>
          <p:cNvPr id="4" name="Image 0" descr="/home/z/my-project/upload/extracted_images/im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39726"/>
            <a:ext cx="5079950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451" y="1277838"/>
            <a:ext cx="2412950" cy="942975"/>
          </a:xfrm>
          <a:prstGeom prst="roundRect">
            <a:avLst>
              <a:gd name="adj" fmla="val 1077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48264" y="1439763"/>
            <a:ext cx="14031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3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0.877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389956" y="1906488"/>
            <a:ext cx="15197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 AUC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451" y="2347764"/>
            <a:ext cx="2412950" cy="942975"/>
          </a:xfrm>
          <a:prstGeom prst="roundRect">
            <a:avLst>
              <a:gd name="adj" fmla="val 1077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48264" y="2509689"/>
            <a:ext cx="14031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3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0.797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238912" y="2976414"/>
            <a:ext cx="18220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 AUC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451" y="3417689"/>
            <a:ext cx="2412950" cy="885825"/>
          </a:xfrm>
          <a:prstGeom prst="roundRect">
            <a:avLst>
              <a:gd name="adj" fmla="val 1147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35934" y="3579614"/>
            <a:ext cx="1227984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28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0.480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741423" y="3989189"/>
            <a:ext cx="816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SVM AUC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10461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Performance Metrics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62249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6616" y="1790849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0.971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5968" y="2273350"/>
            <a:ext cx="26456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5968" y="2470100"/>
            <a:ext cx="2645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62249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47416" y="1790849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0.917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096768" y="2273350"/>
            <a:ext cx="26456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Precision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60776" y="2470100"/>
            <a:ext cx="2517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91200" y="1562249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8216" y="1790849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0.186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87568" y="2273350"/>
            <a:ext cx="26456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2470100"/>
            <a:ext cx="2645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003500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6616" y="3232100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0.302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5968" y="3714601"/>
            <a:ext cx="264566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F1-Score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968" y="3911352"/>
            <a:ext cx="2645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03500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47416" y="3232100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1.000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160776" y="3714601"/>
            <a:ext cx="25176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Specificity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60776" y="3911352"/>
            <a:ext cx="2517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91200" y="3003500"/>
            <a:ext cx="2438400" cy="1288852"/>
          </a:xfrm>
          <a:prstGeom prst="roundRect">
            <a:avLst>
              <a:gd name="adj" fmla="val 9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38216" y="3232100"/>
            <a:ext cx="2944368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spcAft>
                <a:spcPts val="4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0.877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623560" y="3714601"/>
            <a:ext cx="27736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AUC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3911352"/>
            <a:ext cx="2645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913"/>
            <a:ext cx="665522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0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Metric Comparison: Accuracy and Precision</a:t>
            </a:r>
            <a:endParaRPr lang="en-US" sz="2000" dirty="0"/>
          </a:p>
        </p:txBody>
      </p:sp>
      <p:pic>
        <p:nvPicPr>
          <p:cNvPr id="4" name="Image 0" descr="/home/z/my-project/upload/extracted_images/imag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25451"/>
            <a:ext cx="37591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3432" y="4324201"/>
            <a:ext cx="161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Accuracy Comparison</a:t>
            </a:r>
            <a:endParaRPr lang="en-US" sz="1100" dirty="0"/>
          </a:p>
        </p:txBody>
      </p:sp>
      <p:pic>
        <p:nvPicPr>
          <p:cNvPr id="6" name="Image 1" descr="/home/z/my-project/upload/extracted_images/image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51" y="1225451"/>
            <a:ext cx="3759101" cy="304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45670" y="4324201"/>
            <a:ext cx="16114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Precision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913"/>
            <a:ext cx="6102325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0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Metric Comparison: Recall and F1-Score</a:t>
            </a:r>
            <a:endParaRPr lang="en-US" sz="2000" dirty="0"/>
          </a:p>
        </p:txBody>
      </p:sp>
      <p:pic>
        <p:nvPicPr>
          <p:cNvPr id="4" name="Image 0" descr="/home/z/my-project/upload/extracted_images/imag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25451"/>
            <a:ext cx="37591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3355" y="4324201"/>
            <a:ext cx="13915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Recall Comparison</a:t>
            </a:r>
            <a:endParaRPr lang="en-US" sz="1100" dirty="0"/>
          </a:p>
        </p:txBody>
      </p:sp>
      <p:pic>
        <p:nvPicPr>
          <p:cNvPr id="6" name="Image 1" descr="/home/z/my-project/upload/extracted_images/image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51" y="1225451"/>
            <a:ext cx="3759101" cy="304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45683" y="4324201"/>
            <a:ext cx="161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F1-Score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7913"/>
            <a:ext cx="6072374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0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Metric Comparison: Specificity and AUC</a:t>
            </a:r>
            <a:endParaRPr lang="en-US" sz="2000" dirty="0"/>
          </a:p>
        </p:txBody>
      </p:sp>
      <p:pic>
        <p:nvPicPr>
          <p:cNvPr id="4" name="Image 0" descr="/home/z/my-project/upload/extracted_images/imag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25451"/>
            <a:ext cx="3759101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1456" y="4324201"/>
            <a:ext cx="1675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Specificity Comparison</a:t>
            </a:r>
            <a:endParaRPr lang="en-US" sz="1100" dirty="0"/>
          </a:p>
        </p:txBody>
      </p:sp>
      <p:pic>
        <p:nvPicPr>
          <p:cNvPr id="6" name="Image 1" descr="/home/z/my-project/upload/extracted_images/imag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51" y="1225451"/>
            <a:ext cx="3759101" cy="304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7990" y="4324201"/>
            <a:ext cx="13468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AUC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442410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Overall Model Comparison</a:t>
            </a:r>
            <a:endParaRPr lang="en-US" sz="2200" dirty="0"/>
          </a:p>
        </p:txBody>
      </p:sp>
      <p:pic>
        <p:nvPicPr>
          <p:cNvPr id="4" name="Image 0" descr="/home/z/my-project/upload/extracted_images/imag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50" y="1073051"/>
            <a:ext cx="6349901" cy="3555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73713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22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Comprehensive Comparison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06748"/>
            <a:ext cx="7924800" cy="435471"/>
          </a:xfrm>
          <a:prstGeom prst="roundRect">
            <a:avLst>
              <a:gd name="adj" fmla="val 23331"/>
            </a:avLst>
          </a:prstGeom>
          <a:solidFill>
            <a:srgbClr val="FFFFFF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733699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9661" y="1733699"/>
            <a:ext cx="128778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80261" y="1733699"/>
            <a:ext cx="128778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70861" y="1733699"/>
            <a:ext cx="128778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85089" y="1733699"/>
            <a:ext cx="129127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4242" y="1733699"/>
            <a:ext cx="118872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32459" y="1733699"/>
            <a:ext cx="11556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042220"/>
            <a:ext cx="7924800" cy="435471"/>
          </a:xfrm>
          <a:prstGeom prst="rect">
            <a:avLst/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29637" y="2042220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4" name="Shape 12"/>
          <p:cNvSpPr/>
          <p:nvPr/>
        </p:nvSpPr>
        <p:spPr>
          <a:xfrm>
            <a:off x="614363" y="2042220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15" name="Text 13"/>
          <p:cNvSpPr/>
          <p:nvPr/>
        </p:nvSpPr>
        <p:spPr>
          <a:xfrm>
            <a:off x="796826" y="2169170"/>
            <a:ext cx="194812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59562" y="2169170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0.969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0162" y="2169170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0.917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40762" y="2169170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0.108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1720" y="2169170"/>
            <a:ext cx="143706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7191" y="2169170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0.193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06426" y="2169170"/>
            <a:ext cx="122675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0.797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2477691"/>
            <a:ext cx="7924800" cy="4354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529637" y="2477691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24" name="Shape 22"/>
          <p:cNvSpPr/>
          <p:nvPr/>
        </p:nvSpPr>
        <p:spPr>
          <a:xfrm>
            <a:off x="614363" y="2477691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25" name="Text 23"/>
          <p:cNvSpPr/>
          <p:nvPr/>
        </p:nvSpPr>
        <p:spPr>
          <a:xfrm>
            <a:off x="796826" y="2604641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59562" y="2604641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0.970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50162" y="2604641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0.800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40762" y="2604641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0.157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21720" y="2604641"/>
            <a:ext cx="143706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0.999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7191" y="2604641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0.262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06426" y="2604641"/>
            <a:ext cx="122675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0.480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2913162"/>
            <a:ext cx="7924800" cy="435471"/>
          </a:xfrm>
          <a:prstGeom prst="rect">
            <a:avLst/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529637" y="2913162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34" name="Shape 32"/>
          <p:cNvSpPr/>
          <p:nvPr/>
        </p:nvSpPr>
        <p:spPr>
          <a:xfrm>
            <a:off x="614363" y="2913162"/>
            <a:ext cx="0" cy="435471"/>
          </a:xfrm>
          <a:prstGeom prst="line">
            <a:avLst/>
          </a:prstGeom>
          <a:noFill/>
          <a:ln w="9525">
            <a:solidFill>
              <a:srgbClr val="E4E7E8"/>
            </a:solidFill>
            <a:prstDash val="solid"/>
          </a:ln>
        </p:spPr>
        <p:txBody>
          <a:bodyPr/>
          <a:p>
            <a:pPr>
              <a:defRPr>
                <a:solidFill>
                  <a:srgbClr val="141414"/>
                </a:solidFill>
              </a:defRPr>
            </a:pPr>
          </a:p>
        </p:txBody>
      </p:sp>
      <p:sp>
        <p:nvSpPr>
          <p:cNvPr id="35" name="Text 33"/>
          <p:cNvSpPr/>
          <p:nvPr/>
        </p:nvSpPr>
        <p:spPr>
          <a:xfrm>
            <a:off x="796826" y="3040112"/>
            <a:ext cx="204717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59562" y="3040112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0.971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50162" y="3040112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0.792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40762" y="3040112"/>
            <a:ext cx="136702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0.186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21720" y="3040112"/>
            <a:ext cx="143706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0.998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87191" y="3040112"/>
            <a:ext cx="126187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0.302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06426" y="3040112"/>
            <a:ext cx="122675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0.877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9600" y="3501033"/>
            <a:ext cx="7924800" cy="645021"/>
          </a:xfrm>
          <a:prstGeom prst="roundRect">
            <a:avLst>
              <a:gd name="adj" fmla="val 15751"/>
            </a:avLst>
          </a:prstGeom>
          <a:solidFill>
            <a:srgbClr val="E4E7E8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1791" y="3627983"/>
            <a:ext cx="794786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1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Highlighted values</a:t>
            </a:r>
            <a:r>
              <a:rPr lang="en-US" sz="11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= best result per metric. Neural Network leads in 4 of 6 metrics, including the most critical ones: Recall, F1, and AUC.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680418"/>
            <a:ext cx="2453744" cy="107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1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34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</a:t>
            </a:r>
            <a:endParaRPr lang="en-US" sz="3400" dirty="0"/>
          </a:p>
          <a:p>
            <a:pPr marL="0" indent="0" algn="l">
              <a:lnSpc>
                <a:spcPts val="391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3400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55550" y="2851100"/>
            <a:ext cx="35555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066901"/>
            <a:ext cx="2757541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400"/>
              </a:spcBef>
              <a:spcAft>
                <a:spcPts val="1300"/>
              </a:spcAft>
              <a:buNone/>
              <a:defRPr>
                <a:solidFill>
                  <a:srgbClr val="141414"/>
                </a:solidFill>
              </a:defRPr>
            </a:pPr>
            <a:r>
              <a:rPr lang="en-US" sz="1300" dirty="0">
                <a:solidFill>
                  <a:srgbClr val="141414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 (MLPClassifier)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54301" y="1543348"/>
            <a:ext cx="50750" cy="406301"/>
          </a:xfrm>
          <a:prstGeom prst="roundRect">
            <a:avLst>
              <a:gd name="adj" fmla="val 50049"/>
            </a:avLst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6552" y="1518047"/>
            <a:ext cx="19964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Highest AUC (0.877)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6552" y="1746647"/>
            <a:ext cx="3456756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discrimination ability across all thresholds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54301" y="2101900"/>
            <a:ext cx="50750" cy="406301"/>
          </a:xfrm>
          <a:prstGeom prst="roundRect">
            <a:avLst>
              <a:gd name="adj" fmla="val 50049"/>
            </a:avLst>
          </a:prstGeom>
          <a:solidFill>
            <a:srgbClr val="6BCB77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06552" y="2076599"/>
            <a:ext cx="244722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Highest F1-Score (0.302)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6552" y="2305199"/>
            <a:ext cx="3662214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precision-recall balance for imbalanced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4301" y="2660452"/>
            <a:ext cx="50750" cy="406301"/>
          </a:xfrm>
          <a:prstGeom prst="roundRect">
            <a:avLst>
              <a:gd name="adj" fmla="val 50049"/>
            </a:avLst>
          </a:prstGeom>
          <a:solidFill>
            <a:srgbClr val="9B8EC4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6552" y="2635151"/>
            <a:ext cx="216764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Highest Recall (0.186)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6552" y="2863751"/>
            <a:ext cx="4341778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Detects the most actual failures, minimizing missed events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4301" y="3219004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D9496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06552" y="3193703"/>
            <a:ext cx="34375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>
                <a:solidFill>
                  <a:srgbClr val="141414"/>
                </a:solidFill>
              </a:defRPr>
            </a:pPr>
            <a:r>
              <a:rPr lang="en-US" sz="1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Imbalanced Dataset Consideration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06552" y="3422303"/>
            <a:ext cx="3941341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2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Recall, F1, and AUC matter more than accuracy here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56343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63319" y="1944291"/>
            <a:ext cx="2817212" cy="55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8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3400" b="1" dirty="0">
                <a:solidFill>
                  <a:srgbClr val="14141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267200" y="2690961"/>
            <a:ext cx="609600" cy="38100"/>
          </a:xfrm>
          <a:prstGeom prst="rect">
            <a:avLst/>
          </a:prstGeom>
          <a:solidFill>
            <a:srgbClr val="D77860"/>
          </a:solidFill>
          <a:ln/>
        </p:spPr>
        <p:txBody>
          <a:bodyPr wrap="square" rtlCol="0" anchor="ctr"/>
          <a:lstStyle/>
          <a:p>
            <a:pPr marL="0" indent="0">
              <a:buNone/>
              <a:defRPr>
                <a:solidFill>
                  <a:srgbClr val="141414"/>
                </a:solidFill>
              </a:defRPr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23130" y="2957661"/>
            <a:ext cx="42977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  <a:defRPr>
                <a:solidFill>
                  <a:srgbClr val="141414"/>
                </a:solidFill>
              </a:defRPr>
            </a:pPr>
            <a:r>
              <a:rPr lang="en-US" sz="1500" dirty="0">
                <a:solidFill>
                  <a:srgbClr val="141414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Machine Failure Prediction Model Comparison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68266" y="3478262"/>
            <a:ext cx="30768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buNone/>
              <a:defRPr>
                <a:solidFill>
                  <a:srgbClr val="141414"/>
                </a:solidFill>
              </a:defRPr>
            </a:pPr>
            <a:r>
              <a:rPr lang="en-US" sz="1100" dirty="0">
                <a:solidFill>
                  <a:srgbClr val="141414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AI4I 2020 Predictive Maintenance Dataset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884</Words>
  <Application>Microsoft Office PowerPoint</Application>
  <PresentationFormat>On-screen Show (16:9)</PresentationFormat>
  <Paragraphs>196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Asser Waleed Muhammed</cp:lastModifiedBy>
  <cp:revision>2</cp:revision>
  <dcterms:created xsi:type="dcterms:W3CDTF">2026-05-11T22:54:20Z</dcterms:created>
  <dcterms:modified xsi:type="dcterms:W3CDTF">2026-05-11T23:04:18Z</dcterms:modified>
</cp:coreProperties>
</file>